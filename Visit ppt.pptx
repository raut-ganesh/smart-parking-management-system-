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mdtSymbols" panose="02000500000000020004" pitchFamily="2" charset="0"/>
      <p:regular r:id="rId13"/>
    </p:embeddedFont>
    <p:embeddedFont>
      <p:font typeface="Arial Nova Cond Light" panose="020B0306020202020204" pitchFamily="34" charset="0"/>
      <p:regular r:id="rId14"/>
    </p:embeddedFont>
    <p:embeddedFont>
      <p:font typeface="Geist" charset="0"/>
      <p:regular r:id="rId15"/>
    </p:embeddedFont>
    <p:embeddedFont>
      <p:font typeface="Geist Bold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92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9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7" Type="http://schemas.openxmlformats.org/officeDocument/2006/relationships/image" Target="../media/image14.sv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3.svg" /><Relationship Id="rId5" Type="http://schemas.openxmlformats.org/officeDocument/2006/relationships/image" Target="../media/image12.svg" /><Relationship Id="rId4" Type="http://schemas.openxmlformats.org/officeDocument/2006/relationships/image" Target="../media/image11.sv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7.png" /><Relationship Id="rId4" Type="http://schemas.openxmlformats.org/officeDocument/2006/relationships/image" Target="../media/image16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67512" y="1203234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Community Engagement Program (CEP)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7512" y="2719545"/>
            <a:ext cx="629686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Visit to Mahalaxmi Temple, Kolhapur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7512" y="3437353"/>
            <a:ext cx="6296860" cy="2582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Project: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Smart Parking Management System </a:t>
            </a:r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DKTE's Textile and Engineering Institute, </a:t>
            </a:r>
            <a:r>
              <a:rPr lang="en-US" sz="1450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Ichalkaranji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  </a:t>
            </a:r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Department of CSE (AIML)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1450" dirty="0">
              <a:solidFill>
                <a:srgbClr val="EBEDF0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Group Member :</a:t>
            </a:r>
          </a:p>
          <a:p>
            <a:pPr marL="0" indent="0" algn="l">
              <a:lnSpc>
                <a:spcPct val="108000"/>
              </a:lnSpc>
              <a:buNone/>
            </a:pPr>
            <a:endParaRPr lang="en-US" sz="1600" dirty="0">
              <a:solidFill>
                <a:srgbClr val="EBEDF0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342900" indent="-342900" algn="l">
              <a:lnSpc>
                <a:spcPct val="108000"/>
              </a:lnSpc>
              <a:buAutoNum type="arabicPeriod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25UME044 : Ganesh Ujesh Raut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25UAM065 : </a:t>
            </a:r>
            <a:r>
              <a:rPr lang="en-US" sz="1600" dirty="0">
                <a:solidFill>
                  <a:schemeClr val="bg1"/>
                </a:solidFill>
              </a:rPr>
              <a:t>Abhishek Ajit </a:t>
            </a:r>
            <a:r>
              <a:rPr lang="en-US" sz="1600" dirty="0" err="1">
                <a:solidFill>
                  <a:schemeClr val="bg1"/>
                </a:solidFill>
              </a:rPr>
              <a:t>Shirguppe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25UAM069 : Sanket Subhash Patil </a:t>
            </a:r>
          </a:p>
          <a:p>
            <a:pPr marL="342900" indent="-342900">
              <a:buFontTx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25UAM043 : </a:t>
            </a:r>
            <a:r>
              <a:rPr lang="en-US" sz="1600" dirty="0">
                <a:solidFill>
                  <a:schemeClr val="bg1"/>
                </a:solidFill>
              </a:rPr>
              <a:t>Atharv Chandrashekhar </a:t>
            </a:r>
            <a:r>
              <a:rPr lang="en-US" sz="1600" dirty="0" err="1">
                <a:solidFill>
                  <a:schemeClr val="bg1"/>
                </a:solidFill>
              </a:rPr>
              <a:t>Kagale</a:t>
            </a:r>
            <a:r>
              <a:rPr lang="en-US" sz="1600" dirty="0">
                <a:solidFill>
                  <a:schemeClr val="bg1"/>
                </a:solidFill>
              </a:rPr>
              <a:t>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52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80132"/>
            <a:ext cx="6296860" cy="53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50" b="1" kern="0" spc="-65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</a:t>
            </a:r>
            <a:endParaRPr lang="en-US" sz="3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334591"/>
            <a:ext cx="6296860" cy="11273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2017" y="1518940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Purpose of CEP Visit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922017" y="1874540"/>
            <a:ext cx="585197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 conduct a field study on real-world parking challenges at a high-traffic public location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06576"/>
            <a:ext cx="6296860" cy="11273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2017" y="2790924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Mahalaxmi Temple?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922017" y="3146524"/>
            <a:ext cx="585197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major religious and cultural destination with significant visitor footfall, presenting practical parking management challenges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78560"/>
            <a:ext cx="6296860" cy="11273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2017" y="4062909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Connection to Project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22017" y="4418509"/>
            <a:ext cx="585197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Understanding existing parking problems provides essential requirements for designing our IoT-based Smart Parking Management System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50545"/>
            <a:ext cx="6296860" cy="11273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22017" y="5334893"/>
            <a:ext cx="5851974" cy="268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922017" y="5690493"/>
            <a:ext cx="5851974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Observe parking difficulties, collect user feedback, and identify technological solutions for efficient parking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6518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50" b="1" kern="0" spc="-6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Visit Details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36216"/>
            <a:ext cx="6931050" cy="4288631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80659" y="1405334"/>
          <a:ext cx="3555812" cy="4737577"/>
        </p:xfrm>
        <a:graphic>
          <a:graphicData uri="http://schemas.openxmlformats.org/drawingml/2006/table">
            <a:tbl>
              <a:tblPr/>
              <a:tblGrid>
                <a:gridCol w="1777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2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Field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Details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2A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4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Location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Mahalaxmi Temple, Kolhapur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District / State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Kolhapur, Maharashtra – 416012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4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Reference Code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DKTE/TEI/CCSEAIML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Activity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Field visit and information gathering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Project Focus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Smart Parking Management System using IoT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4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Project Co-ordinator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Mrs. R. S. Kamble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3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H.O.D. CSE (AIML)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Prof. Dr. S. K. Shirgave</a:t>
                      </a:r>
                      <a:endParaRPr lang="en-US" sz="120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56531" marR="15653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980659" y="1752829"/>
            <a:ext cx="3555812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2"/>
          <p:cNvSpPr/>
          <p:nvPr/>
        </p:nvSpPr>
        <p:spPr>
          <a:xfrm>
            <a:off x="7980659" y="2299312"/>
            <a:ext cx="3555812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7980659" y="3031826"/>
            <a:ext cx="3555812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7980659" y="3578309"/>
            <a:ext cx="3555812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7980659" y="4310823"/>
            <a:ext cx="3555812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6"/>
          <p:cNvSpPr/>
          <p:nvPr/>
        </p:nvSpPr>
        <p:spPr>
          <a:xfrm>
            <a:off x="7980659" y="5043337"/>
            <a:ext cx="3555812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7980659" y="5589820"/>
            <a:ext cx="3555812" cy="978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55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b="1" kern="0" spc="-4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About Mahalaxmi Temple, Kolhapur</a:t>
            </a:r>
            <a:endParaRPr lang="en-US" sz="2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40606"/>
            <a:ext cx="6971332" cy="5228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76065" y="1458034"/>
            <a:ext cx="3321860" cy="436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Significant Religious Landmark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214611" y="1893983"/>
            <a:ext cx="3321860" cy="862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of the most important religious and cultural destinations in Maharashtra, attracting devotees year-round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076065" y="2825004"/>
            <a:ext cx="3321860" cy="603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High Visitor Footfall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214611" y="3183730"/>
            <a:ext cx="3321860" cy="862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Particularly crowded during festivals and weekends; serves as a major pilgrimage destination with continuous visitor flow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76065" y="4048870"/>
            <a:ext cx="3321860" cy="66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kern="0" spc="-2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Parking Demand Challenge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208360" y="4482566"/>
            <a:ext cx="3321860" cy="1142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high volume of visitors creates substantial parking demand; existing infrastructure requires optimization for better visitor experience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341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b="1" kern="0" spc="-5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Objectives of the Visit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167209"/>
            <a:ext cx="10868745" cy="779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6592" y="1430338"/>
            <a:ext cx="194861" cy="253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89613" y="1316137"/>
            <a:ext cx="10091683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Observe Infrastructure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289613" y="1580852"/>
            <a:ext cx="10091683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Observe the existing parking arrangement and infrastructure at the site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36167"/>
            <a:ext cx="10868745" cy="7796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6592" y="2299295"/>
            <a:ext cx="194861" cy="253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289613" y="2185095"/>
            <a:ext cx="10091683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Understand Difficulties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89613" y="2449810"/>
            <a:ext cx="10091683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 difficulties faced by visitors while parking during peak and off-peak hours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05125"/>
            <a:ext cx="10868745" cy="7796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6592" y="3168253"/>
            <a:ext cx="194861" cy="253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289613" y="3054052"/>
            <a:ext cx="10091683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Identify Bottlenecks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289613" y="3318768"/>
            <a:ext cx="10091683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possible parking management problems and traffic flow bottlenecks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74083"/>
            <a:ext cx="10868745" cy="7796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6592" y="4037211"/>
            <a:ext cx="194861" cy="253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289613" y="3923010"/>
            <a:ext cx="10091683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Collect Requirements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289613" y="4187726"/>
            <a:ext cx="10091683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Collect information useful for our IoT-based smart parking project design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43041"/>
            <a:ext cx="10868745" cy="77966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6592" y="4906169"/>
            <a:ext cx="194861" cy="253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1289613" y="4791968"/>
            <a:ext cx="10091683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Technology Assessment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1289613" y="5056684"/>
            <a:ext cx="10091683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 how technology can improve parking management efficiency at scale</a:t>
            </a:r>
            <a:endParaRPr lang="en-US" sz="10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11998"/>
            <a:ext cx="10868745" cy="77966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36592" y="5775127"/>
            <a:ext cx="194861" cy="253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3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289613" y="5660926"/>
            <a:ext cx="10091683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Gather Feedback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1289613" y="5925641"/>
            <a:ext cx="10091683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 with visitors and staff to gather relevant first-hand feedback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5304"/>
            <a:ext cx="10868745" cy="604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50" b="1" kern="0" spc="-7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Observations During the Visit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770658"/>
            <a:ext cx="2512156" cy="2157611"/>
          </a:xfrm>
          <a:prstGeom prst="roundRect">
            <a:avLst>
              <a:gd name="adj" fmla="val 362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66555" y="1975743"/>
            <a:ext cx="2101996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000000"/>
                </a:solidFill>
                <a:latin typeface="Arial Nova Cond Light" panose="020F0502020204030204" pitchFamily="34" charset="0"/>
                <a:ea typeface="Noto Color Emoji" pitchFamily="34" charset="-122"/>
                <a:cs typeface="Noto Color Emoji" pitchFamily="34" charset="-120"/>
              </a:rPr>
              <a:t>🅿</a:t>
            </a: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Space Availability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6555" y="2763540"/>
            <a:ext cx="2101996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Limited visibility of available parking spaces; visitors struggle to locate vacant spots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356784" y="1770658"/>
            <a:ext cx="2512156" cy="2157611"/>
          </a:xfrm>
          <a:prstGeom prst="roundRect">
            <a:avLst>
              <a:gd name="adj" fmla="val 362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561864" y="1975743"/>
            <a:ext cx="210199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000000"/>
                </a:solidFill>
                <a:latin typeface="Arial Nova Cond Light" panose="020F0502020204030204" pitchFamily="34" charset="0"/>
                <a:ea typeface="Noto Color Emoji" pitchFamily="34" charset="-122"/>
                <a:cs typeface="Noto Color Emoji" pitchFamily="34" charset="-120"/>
              </a:rPr>
              <a:t>🚧</a:t>
            </a: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Organisation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61864" y="2461220"/>
            <a:ext cx="2101996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Parking areas lack clear demarcation, systematic layout, and proper signage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111427"/>
            <a:ext cx="2512156" cy="1855291"/>
          </a:xfrm>
          <a:prstGeom prst="roundRect">
            <a:avLst>
              <a:gd name="adj" fmla="val 421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66555" y="4316512"/>
            <a:ext cx="210199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000000"/>
                </a:solidFill>
                <a:latin typeface="Arial Nova Cond Light" panose="020F0502020204030204" pitchFamily="34" charset="0"/>
                <a:ea typeface="Noto Color Emoji" pitchFamily="34" charset="-122"/>
                <a:cs typeface="Noto Color Emoji" pitchFamily="34" charset="-120"/>
              </a:rPr>
              <a:t>🚗</a:t>
            </a: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Congestion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6555" y="4801989"/>
            <a:ext cx="2101996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Significant congestion during peak hours; inefficient vehicle movement observed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356784" y="4111427"/>
            <a:ext cx="2512156" cy="1855291"/>
          </a:xfrm>
          <a:prstGeom prst="roundRect">
            <a:avLst>
              <a:gd name="adj" fmla="val 421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61864" y="4316512"/>
            <a:ext cx="210199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000000"/>
                </a:solidFill>
                <a:latin typeface="Arial Nova Cond Light" panose="020F0502020204030204" pitchFamily="34" charset="0"/>
                <a:ea typeface="Noto Color Emoji" pitchFamily="34" charset="-122"/>
                <a:cs typeface="Noto Color Emoji" pitchFamily="34" charset="-120"/>
              </a:rPr>
              <a:t>📡</a:t>
            </a: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Real-time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1864" y="4801989"/>
            <a:ext cx="2101996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Absence of real-time parking availability information for incoming visitors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29105" y="1770658"/>
            <a:ext cx="2512156" cy="2157611"/>
          </a:xfrm>
          <a:prstGeom prst="roundRect">
            <a:avLst>
              <a:gd name="adj" fmla="val 362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34185" y="1975743"/>
            <a:ext cx="2101996" cy="604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000000"/>
                </a:solidFill>
                <a:latin typeface="Arial Nova Cond Light" panose="020F0502020204030204" pitchFamily="34" charset="0"/>
                <a:ea typeface="Noto Color Emoji" pitchFamily="34" charset="-122"/>
                <a:cs typeface="Noto Color Emoji" pitchFamily="34" charset="-120"/>
              </a:rPr>
              <a:t>🪧</a:t>
            </a: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Guidance System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4185" y="2763540"/>
            <a:ext cx="2101996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Minimal or no signage indicating vacant parking spaces or directional guidance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024414" y="1770658"/>
            <a:ext cx="2512156" cy="2157611"/>
          </a:xfrm>
          <a:prstGeom prst="roundRect">
            <a:avLst>
              <a:gd name="adj" fmla="val 362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229494" y="1975743"/>
            <a:ext cx="2101996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000000"/>
                </a:solidFill>
                <a:latin typeface="Arial Nova Cond Light" panose="020F0502020204030204" pitchFamily="34" charset="0"/>
                <a:ea typeface="Noto Color Emoji" pitchFamily="34" charset="-122"/>
                <a:cs typeface="Noto Color Emoji" pitchFamily="34" charset="-120"/>
              </a:rPr>
              <a:t>🚦</a:t>
            </a: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Entry/Exit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29494" y="2461220"/>
            <a:ext cx="2101996" cy="959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Unorganised entry and exit points; potential for traffic bottlenecks at peak times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29105" y="4111427"/>
            <a:ext cx="5207465" cy="1375470"/>
          </a:xfrm>
          <a:prstGeom prst="roundRect">
            <a:avLst>
              <a:gd name="adj" fmla="val 5681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534185" y="4316512"/>
            <a:ext cx="4797305" cy="302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kern="0" spc="-37" dirty="0">
                <a:solidFill>
                  <a:srgbClr val="000000"/>
                </a:solidFill>
                <a:latin typeface="Arial Nova Cond Light" panose="020F0502020204030204" pitchFamily="34" charset="0"/>
                <a:ea typeface="Noto Color Emoji" pitchFamily="34" charset="-122"/>
                <a:cs typeface="Noto Color Emoji" pitchFamily="34" charset="-120"/>
              </a:rPr>
              <a:t>🔒</a:t>
            </a:r>
            <a:r>
              <a:rPr lang="en-US" sz="180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Safety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4185" y="4801989"/>
            <a:ext cx="479730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Need for better security and monitoring of parked vehicles throughout the facility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5551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Questions Asked / Information Collected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47837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30" dirty="0">
                <a:solidFill>
                  <a:srgbClr val="EBEDF0"/>
                </a:solidFill>
                <a:latin typeface="AmdtSymbols" panose="02000500000000020004" pitchFamily="2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053134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61475" y="2198390"/>
            <a:ext cx="3496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Major Parking Problems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618879"/>
            <a:ext cx="349687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are the major parking problems faced by visitors?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1747837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30" dirty="0">
                <a:solidFill>
                  <a:srgbClr val="EBEDF0"/>
                </a:solidFill>
                <a:latin typeface="AmdtSymbols" panose="02000500000000020004" pitchFamily="2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053134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47359" y="2198390"/>
            <a:ext cx="3496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Space Availability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2618879"/>
            <a:ext cx="349687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 it difficult to find an available parking space during busy periods?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1747837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30" dirty="0">
                <a:solidFill>
                  <a:srgbClr val="EBEDF0"/>
                </a:solidFill>
                <a:latin typeface="AmdtSymbols" panose="02000500000000020004" pitchFamily="2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053134"/>
            <a:ext cx="3496877" cy="254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33244" y="2198390"/>
            <a:ext cx="3496877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Current Management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2618879"/>
            <a:ext cx="3496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is parking currently managed? Is there any system to indicate vacant spaces?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3686572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30" dirty="0">
                <a:solidFill>
                  <a:srgbClr val="EBEDF0"/>
                </a:solidFill>
                <a:latin typeface="AmdtSymbols" panose="02000500000000020004" pitchFamily="2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3972917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61475" y="4137124"/>
            <a:ext cx="533982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Entry/Exit Flow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557613"/>
            <a:ext cx="533982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are entry and exit of vehicles managed? Are parking spaces clearly marked and numbered?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3686572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30" dirty="0">
                <a:solidFill>
                  <a:srgbClr val="EBEDF0"/>
                </a:solidFill>
                <a:latin typeface="AmdtSymbols" panose="02000500000000020004" pitchFamily="2" charset="0"/>
                <a:ea typeface="Geist Light" pitchFamily="34" charset="-122"/>
                <a:cs typeface="Geist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3972917"/>
            <a:ext cx="5339820" cy="2540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190301" y="4137124"/>
            <a:ext cx="5339820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Security &amp; Future Needs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4557613"/>
            <a:ext cx="533982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safety measures are available? Would real-time information be useful? What improvements would help?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763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50" b="1" kern="0" spc="-6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Group Visit Photos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208" y="1492548"/>
            <a:ext cx="4156864" cy="427335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291" y="1492548"/>
            <a:ext cx="3599812" cy="4273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552476" y="5975771"/>
            <a:ext cx="8977744" cy="895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Interaction with the concerned person regarding parking management.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92534"/>
            <a:ext cx="6296860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Connection with Our Project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12652"/>
            <a:ext cx="354401" cy="3544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1699915"/>
            <a:ext cx="629686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Parking-Space Detection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61475" y="1993900"/>
            <a:ext cx="6296860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IoT sensors detect occupancy of individual parking spaces in real-time, eliminating manual counting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28987"/>
            <a:ext cx="354401" cy="3544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475" y="3016250"/>
            <a:ext cx="629686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Real-time Vacancy Information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61475" y="3310235"/>
            <a:ext cx="6296860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Available parking slots displayed to incoming visitors through mobile app or digital signage boards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45322"/>
            <a:ext cx="354401" cy="35440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1475" y="4332585"/>
            <a:ext cx="629686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Better Vehicle Flow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61475" y="4626570"/>
            <a:ext cx="6296860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Organised parking guidance reduces congestion and improves traffic movement within the premises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161657"/>
            <a:ext cx="354401" cy="35440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475" y="5648920"/>
            <a:ext cx="629686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IoT Cloud Connectivity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661475" y="5942905"/>
            <a:ext cx="6296860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Cloud-based system enables centralized monitoring, data-driven insights, and optimised space utilisation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b="1" kern="0" spc="-3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 Smart Parking System Architecture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92134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682039"/>
            <a:ext cx="2445408" cy="31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User Interface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606033"/>
            <a:ext cx="2445408" cy="31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Cloud Database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540896"/>
            <a:ext cx="2445408" cy="31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Controller Unit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464889"/>
            <a:ext cx="2445408" cy="317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b="1" kern="0" spc="-3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Detect Vehicle</a:t>
            </a:r>
            <a:endParaRPr lang="en-US" sz="1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675809"/>
            <a:ext cx="2635879" cy="599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427" y="5782965"/>
            <a:ext cx="23707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IoT Sensors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19427" y="5983784"/>
            <a:ext cx="2370773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Ultrasonic or infrared sensors monitor each individual parking space for occupancy status</a:t>
            </a:r>
            <a:endParaRPr lang="en-US" sz="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4580" y="5675809"/>
            <a:ext cx="2635978" cy="599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02533" y="5782965"/>
            <a:ext cx="237087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Controller Unit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502533" y="5983784"/>
            <a:ext cx="2370872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Processes sensor data and communicates updates to the cloud system in real-time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7487" y="5675809"/>
            <a:ext cx="2635879" cy="599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75439" y="5782965"/>
            <a:ext cx="23707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Cloud Database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375439" y="5983784"/>
            <a:ext cx="2370773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Stores real-time parking data and historical analytics for administrative insights</a:t>
            </a:r>
            <a:endParaRPr lang="en-US" sz="7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0592" y="5675809"/>
            <a:ext cx="2635978" cy="599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058544" y="5782965"/>
            <a:ext cx="237087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User Interface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9058544" y="5983784"/>
            <a:ext cx="2370872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 app or digital display boards show available parking to visitors in real-time</a:t>
            </a:r>
            <a:endParaRPr lang="en-US" sz="700" dirty="0"/>
          </a:p>
        </p:txBody>
      </p:sp>
      <p:sp>
        <p:nvSpPr>
          <p:cNvPr id="20" name="Shape 13"/>
          <p:cNvSpPr/>
          <p:nvPr/>
        </p:nvSpPr>
        <p:spPr>
          <a:xfrm>
            <a:off x="661475" y="6381452"/>
            <a:ext cx="10868745" cy="229096"/>
          </a:xfrm>
          <a:prstGeom prst="roundRect">
            <a:avLst>
              <a:gd name="adj" fmla="val 17326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29" y="6452295"/>
            <a:ext cx="118067" cy="94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8450" y="6452295"/>
            <a:ext cx="11076901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70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Note: This is our proposed project concept and is not an existing system at Mahalaxmi Temple, Kolhapur.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719</Words>
  <Application>Microsoft Office PowerPoint</Application>
  <PresentationFormat>Widescreen</PresentationFormat>
  <Paragraphs>130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Ganesh Raut</dc:creator>
  <cp:lastModifiedBy>Rocky RAJA</cp:lastModifiedBy>
  <cp:revision>4</cp:revision>
  <dcterms:created xsi:type="dcterms:W3CDTF">2026-09-28T18:57:02Z</dcterms:created>
  <dcterms:modified xsi:type="dcterms:W3CDTF">2026-09-29T06:00:06Z</dcterms:modified>
</cp:coreProperties>
</file>